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AA4B2"/>
                </a:solidFill>
                <a:latin typeface="맑은 고딕"/>
              </a:defRPr>
            </a:pPr>
            <a:r>
              <a:rPr sz="1100" b="0" i="0" u="none" strike="noStrike">
                <a:solidFill>
                  <a:srgbClr val="9AA4B2"/>
                </a:solidFill>
                <a:latin typeface="맑은 고딕"/>
              </a:rPr>
              <a:t>첨단 패키징 시장 규모 (억 달러)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첨단 패키징 시장 (억 달러)</c:v>
                </c:pt>
              </c:strCache>
            </c:strRef>
          </c:tx>
          <c:spPr>
            <a:solidFill>
              <a:srgbClr val="3A465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A465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A82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2030 (E)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450</c:v>
                </c:pt>
                <c:pt idx="1">
                  <c:v>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FFFFFF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4B2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E14"/>
        </a:solidFill>
        <a:ln>
          <a:noFill/>
        </a:ln>
        <a:effectLst/>
      </c:spPr>
    </c:plotArea>
    <c:plotVisOnly val="1"/>
    <c:dispBlanksAs val="span"/>
  </c:chart>
  <c:spPr>
    <a:solidFill>
      <a:srgbClr val="0B0E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메모리 회사 전제. 첫 문장으로 통념을 뒤집고 시작한다.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전제를 명시해야 뒤의 선택이 설득력을 갖는다. '메모리 회사라서 이 답'이라는 걸 먼저 못 박는다.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두괄식. 배분액을 먼저 던진다.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우리 조 논리의 심장. 이 한 장이 세 선택을 전부 정당화한다.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무엇을 고르나보다 무슨 기준으로 고르나를 먼저 제시한다.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탈락 사유를 하이닉스 상황에 맞춰 구체화했다.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1위라는 안도감을 깨는 슬라이드. 69%에서 58%로 이미 빠지고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'그럼 파운드리 지어야 하는 거 아니냐'는 반박을 마지막 줄에서 미리 막는다.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MR-MUF 스토리로 '패키징=우리 정체성'을 못 박는다.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AS-IS의 빨간 항목 세 개가 전부 해외 단일 공급이라는 점을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'보험 아니냐'는 반박에 대해 '계약 만료'라는 시한을 제시해 긴급성을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실행 방식의 차별점. '직접 개발'이 아니라 '지분+구매확약+검증 개방'.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③에 대한 답이 이 발표에서 가장 어려운 질문. 셀을 버리는 게 아니라 예산에 포함된다는 논리로 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우리가 실제로 High-NA 1호 도입사라는 사실을 먼저 인정하고 시작해야 설득력이 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1~2년차의 첫 과제가 '언더필 2nd 소스'인 이유는 독점계약 만료 시한 때문이다.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리스크를 인정하되 마지막에 '현상 유지가 더 위험하다'로 뒤집는다.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마무리에서 두괄식 결론을 회수한다.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187452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FA828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89320" y="2395728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3A4658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89320" y="2916936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232B39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417320"/>
            <a:ext cx="45720" cy="1883664"/>
          </a:xfrm>
          <a:prstGeom prst="rect">
            <a:avLst/>
          </a:prstGeom>
          <a:solidFill>
            <a:srgbClr val="C4780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0" y="10607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A4E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TSV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74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E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HBM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23957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첨단 패키징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144768" y="29169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소재·장비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MEMORY  COMPANY  ·  500조 원  ·  2026 – 2031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664208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STACK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7432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HBM 1위인 이유는 </a:t>
            </a:r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D램이 아니라 패키징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이었습니다.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그 패키징은 우리 것이 아닙니다.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1371600" cy="18288"/>
          </a:xfrm>
          <a:prstGeom prst="rect">
            <a:avLst/>
          </a:prstGeom>
          <a:solidFill>
            <a:srgbClr val="2C34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9044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회사 경영진 · 5년 · 단 3곳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2062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EUV  ② HBM  ③ 3D  ④ Packaging  ⑤ Fab  ⑥ AI팹  ⑦ 소부장  ⑧ 인재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41148" cy="182880"/>
          </a:xfrm>
          <a:prstGeom prst="rect">
            <a:avLst/>
          </a:prstGeom>
          <a:solidFill>
            <a:srgbClr val="FFA8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2743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 we are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</a:t>
            </a:r>
            <a:pPr indent="0" marL="0">
              <a:buNone/>
            </a:pPr>
            <a:r>
              <a:rPr lang="en-US" sz="27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파운드리가 없는 메모리 회사</a:t>
            </a:r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2587752" cy="1298448"/>
          </a:xfrm>
          <a:prstGeom prst="roundRect">
            <a:avLst>
              <a:gd name="adj" fmla="val 7042"/>
            </a:avLst>
          </a:prstGeom>
          <a:solidFill>
            <a:srgbClr val="161B2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0664" y="1499616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58%</a:t>
            </a:r>
            <a:endParaRPr lang="en-US" sz="33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066544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HBM 시장 점유율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1위, 그러나 하락 중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74136" y="1389888"/>
            <a:ext cx="2587752" cy="1298448"/>
          </a:xfrm>
          <a:prstGeom prst="roundRect">
            <a:avLst>
              <a:gd name="adj" fmla="val 7042"/>
            </a:avLst>
          </a:prstGeom>
          <a:solidFill>
            <a:srgbClr val="1E2530"/>
          </a:solidFill>
          <a:ln w="12700">
            <a:solidFill>
              <a:srgbClr val="7A4E0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1499616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0개</a:t>
            </a:r>
            <a:endParaRPr lang="en-US" sz="33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066544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보유한 선단 로직 팹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베이스 다이는 외주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45352" y="1389888"/>
            <a:ext cx="2587752" cy="1298448"/>
          </a:xfrm>
          <a:prstGeom prst="roundRect">
            <a:avLst>
              <a:gd name="adj" fmla="val 7042"/>
            </a:avLst>
          </a:prstGeom>
          <a:solidFill>
            <a:srgbClr val="161B2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83096" y="1499616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47조</a:t>
            </a:r>
            <a:endParaRPr lang="en-US" sz="3300" dirty="0"/>
          </a:p>
        </p:txBody>
      </p:sp>
      <p:sp>
        <p:nvSpPr>
          <p:cNvPr id="13" name="Text 11"/>
          <p:cNvSpPr txBox="1"/>
          <p:nvPr/>
        </p:nvSpPr>
        <p:spPr>
          <a:xfrm>
            <a:off x="6483096" y="2066544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영업이익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500조 = 그 10년치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889504"/>
            <a:ext cx="8138160" cy="1481328"/>
          </a:xfrm>
          <a:prstGeom prst="roundRect">
            <a:avLst>
              <a:gd name="adj" fmla="val 6173"/>
            </a:avLst>
          </a:prstGeom>
          <a:solidFill>
            <a:srgbClr val="1E2530"/>
          </a:solidFill>
          <a:ln w="12700">
            <a:solidFill>
              <a:srgbClr val="7A4E0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5528" y="305409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회사라는 전제가 답을 바꿉니다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3419856"/>
            <a:ext cx="7552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 반도체 회사라면 EUV와 파운드리를 함께 논의했을 것입니다. 그러나 우리는 셀을 쌓아 파는 회사입니다.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경쟁사 삼성은 메모리·파운드리·패키징을 한 회사 안에서 돌립니다. 우리는 베이스 다이를 TSMC에 맡깁니다.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8개 선택지라도, 우리에게 급소인 항목은 다릅니다.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47411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카운터포인트리서치 HBM 점유율(2026 1Q), 회사 2025년 실적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41148" cy="182880"/>
          </a:xfrm>
          <a:prstGeom prst="rect">
            <a:avLst/>
          </a:prstGeom>
          <a:solidFill>
            <a:srgbClr val="FFA8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2743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결론부터 말씀드립니다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2587752" cy="2834640"/>
          </a:xfrm>
          <a:prstGeom prst="roundRect">
            <a:avLst>
              <a:gd name="adj" fmla="val 3534"/>
            </a:avLst>
          </a:prstGeom>
          <a:solidFill>
            <a:srgbClr val="1E2530"/>
          </a:solidFill>
          <a:ln w="12700">
            <a:solidFill>
              <a:srgbClr val="7A4E0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0664" y="15727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901952" y="160934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0664" y="2029968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HBM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245059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지켜야 하는 것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40664" y="2798064"/>
            <a:ext cx="2130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1위는 이미 흔들리고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있습니다. 커스텀 HBM으로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고객을 묶습니다.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74136" y="1389888"/>
            <a:ext cx="2587752" cy="2834640"/>
          </a:xfrm>
          <a:prstGeom prst="roundRect">
            <a:avLst>
              <a:gd name="adj" fmla="val 3534"/>
            </a:avLst>
          </a:prstGeom>
          <a:solidFill>
            <a:srgbClr val="161B2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15727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773168" y="160934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150조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2029968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첨단 Packaging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245059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되찾아야 하는 것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2798064"/>
            <a:ext cx="2130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1위의 진짜 근거.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원가의 20%대를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밖에 내주고 있습니다.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45352" y="1389888"/>
            <a:ext cx="2587752" cy="2834640"/>
          </a:xfrm>
          <a:prstGeom prst="roundRect">
            <a:avLst>
              <a:gd name="adj" fmla="val 3534"/>
            </a:avLst>
          </a:prstGeom>
          <a:solidFill>
            <a:srgbClr val="161B2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83096" y="15727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644384" y="160934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100조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83096" y="2029968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소재·장비 공급망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483096" y="245059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빼앗기면 안 되는 것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83096" y="2798064"/>
            <a:ext cx="2130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MR-MUF 소재는 일본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회사가 100% 공급합니다.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독점 계약은 만료됩니다.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437083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개를 고른 게 아닙니다.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1위를 떠받치는 다리 세 개를 전부 우리 것으로 만드는 계획입니다.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41148" cy="182880"/>
          </a:xfrm>
          <a:prstGeom prst="rect">
            <a:avLst/>
          </a:prstGeom>
          <a:solidFill>
            <a:srgbClr val="FFA8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2743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Core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1위의 두 다리는 </a:t>
            </a:r>
            <a:pPr indent="0" marL="0">
              <a:buNone/>
            </a:pPr>
            <a:r>
              <a:rPr lang="en-US" sz="27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것이 아닙니다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4160520" cy="640080"/>
          </a:xfrm>
          <a:prstGeom prst="roundRect">
            <a:avLst>
              <a:gd name="adj" fmla="val 11429"/>
            </a:avLst>
          </a:prstGeom>
          <a:solidFill>
            <a:srgbClr val="34405A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" y="15361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722376" y="17373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베이스 다이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715768" y="166420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TSMC 12nm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31136"/>
            <a:ext cx="4160520" cy="640080"/>
          </a:xfrm>
          <a:prstGeom prst="roundRect">
            <a:avLst>
              <a:gd name="adj" fmla="val 11429"/>
            </a:avLst>
          </a:prstGeom>
          <a:solidFill>
            <a:srgbClr val="FFA828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2376" y="23042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B0E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22376" y="25054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E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MR-MUF 패키징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15768" y="243230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0E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1위의 근거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999232"/>
            <a:ext cx="4160520" cy="640080"/>
          </a:xfrm>
          <a:prstGeom prst="roundRect">
            <a:avLst>
              <a:gd name="adj" fmla="val 11429"/>
            </a:avLst>
          </a:prstGeom>
          <a:solidFill>
            <a:srgbClr val="1E2530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" y="30723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722376" y="327355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언더필 소재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715768" y="320040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일본 나믹스 100%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32888" y="1463040"/>
            <a:ext cx="45720" cy="2651760"/>
          </a:xfrm>
          <a:prstGeom prst="rect">
            <a:avLst/>
          </a:prstGeom>
          <a:solidFill>
            <a:srgbClr val="C4780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2920" y="415137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4E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가운데만 우리 것입니다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38928" y="1508760"/>
            <a:ext cx="41148" cy="182880"/>
          </a:xfrm>
          <a:prstGeom prst="rect">
            <a:avLst/>
          </a:prstGeom>
          <a:solidFill>
            <a:srgbClr val="FFA8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285232" y="1426464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HBM 1위는 D램 덕분이 아니었습니다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285232" y="1755648"/>
            <a:ext cx="3355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경쟁사가 필름(TC-NCF)을 쓸 때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액체를 부었습니다. MR-MUF라는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패키징 공법이 3년간의 격차였습니다.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138928" y="2423160"/>
            <a:ext cx="41148" cy="182880"/>
          </a:xfrm>
          <a:prstGeom prst="rect">
            <a:avLst/>
          </a:prstGeom>
          <a:solidFill>
            <a:srgbClr val="FFA82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285232" y="2340864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그 소재는 일본 것입니다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285232" y="2670048"/>
            <a:ext cx="3355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MR-MUF용 언더필은 일본 나믹스가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사실상 100% 공급합니다.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독점 공급 계약은 만료를 앞두고 있습니다.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38928" y="3337560"/>
            <a:ext cx="41148" cy="182880"/>
          </a:xfrm>
          <a:prstGeom prst="rect">
            <a:avLst/>
          </a:prstGeom>
          <a:solidFill>
            <a:srgbClr val="FFA82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285232" y="3255264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두뇌는 대만 것입니다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285232" y="3584448"/>
            <a:ext cx="3355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HBM4 베이스 다이는 TSMC 12nm.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원가의 20%대가 밖으로 나가고,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커스텀 설계도 남의 팹을 지납니다.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138928" y="4315968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500조는 이 두 다리를 우리 것으로 바꾸는 데 씁니다.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47411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KIPOST·ZDNet 언더필 공급구조 보도, 디일렉 HBM4 베이스다이 위탁 보도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41148" cy="182880"/>
          </a:xfrm>
          <a:prstGeom prst="rect">
            <a:avLst/>
          </a:prstGeom>
          <a:solidFill>
            <a:srgbClr val="FFA8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2743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Screening Criteria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기준은 하나였습니다 — </a:t>
            </a:r>
            <a:pPr indent="0" marL="0">
              <a:buNone/>
            </a:pPr>
            <a:r>
              <a:rPr lang="en-US" sz="27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"돈으로 살 수 있는가?"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463040" y="1481328"/>
            <a:ext cx="2263140" cy="1197864"/>
          </a:xfrm>
          <a:prstGeom prst="roundRect">
            <a:avLst>
              <a:gd name="adj" fmla="val 5344"/>
            </a:avLst>
          </a:prstGeom>
          <a:solidFill>
            <a:srgbClr val="161B2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7620" y="1481328"/>
            <a:ext cx="2263140" cy="1197864"/>
          </a:xfrm>
          <a:prstGeom prst="roundRect">
            <a:avLst>
              <a:gd name="adj" fmla="val 5344"/>
            </a:avLst>
          </a:prstGeom>
          <a:solidFill>
            <a:srgbClr val="26200F"/>
          </a:solidFill>
          <a:ln w="12700">
            <a:solidFill>
              <a:srgbClr val="7A4E0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770632"/>
            <a:ext cx="2263140" cy="1197864"/>
          </a:xfrm>
          <a:prstGeom prst="roundRect">
            <a:avLst>
              <a:gd name="adj" fmla="val 5344"/>
            </a:avLst>
          </a:prstGeom>
          <a:solidFill>
            <a:srgbClr val="161B2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17620" y="2770632"/>
            <a:ext cx="2263140" cy="1197864"/>
          </a:xfrm>
          <a:prstGeom prst="roundRect">
            <a:avLst>
              <a:gd name="adj" fmla="val 5344"/>
            </a:avLst>
          </a:prstGeom>
          <a:solidFill>
            <a:srgbClr val="161B2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27632" y="16276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입장료 (Toll)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627632" y="190195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EUV 첨단공정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신규 Fab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982212" y="16276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해자 (Moat)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982212" y="190195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HBM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첨단 Packaging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 소재·장비 공급망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627632" y="291693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하고 있는 것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627632" y="3191256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DRAM/NAND 3D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AI 스마트팩토리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982212" y="291693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5년 밖의 자산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982212" y="3191256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⑧ 반도체 인재 양성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17556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경쟁우위가</a:t>
            </a:r>
            <a:endParaRPr lang="en-US" sz="10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된다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0449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5년 내</a:t>
            </a:r>
            <a:endParaRPr lang="en-US" sz="10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 없다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096512"/>
            <a:ext cx="2263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돈으로 살 수 있다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817620" y="4096512"/>
            <a:ext cx="2263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돈으로 못 산다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1517904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500조가 있으면 살 수 있는 것은,</a:t>
            </a:r>
            <a:endParaRPr lang="en-US" sz="14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경쟁사도 삽니다.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2670048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ASML은 우리에게만 EUV를 팔지 않습니다.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부지와 건물도 누구나 삽니다.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반면 고객의 커스텀 설계, MR-MUF를 잇는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본딩 노하우, 소재사와의 관계는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돈만으로 살 수 없습니다.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후자에만 500조를 씁니다.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41148" cy="182880"/>
          </a:xfrm>
          <a:prstGeom prst="rect">
            <a:avLst/>
          </a:prstGeom>
          <a:solidFill>
            <a:srgbClr val="FFA8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2743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→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8개를 3개로 줄인 과정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8138160" cy="365760"/>
          </a:xfrm>
          <a:prstGeom prst="roundRect">
            <a:avLst>
              <a:gd name="adj" fmla="val 15000"/>
            </a:avLst>
          </a:prstGeom>
          <a:solidFill>
            <a:srgbClr val="10141C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35331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13533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80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EUV 첨단공정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90088" y="1435608"/>
            <a:ext cx="512064" cy="210312"/>
          </a:xfrm>
          <a:prstGeom prst="roundRect">
            <a:avLst>
              <a:gd name="adj" fmla="val 21739"/>
            </a:avLst>
          </a:prstGeom>
          <a:solidFill>
            <a:srgbClr val="232A36"/>
          </a:solidFill>
          <a:ln w="12700">
            <a:solidFill>
              <a:srgbClr val="232A3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90088" y="1435608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탈락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3648456" y="1353312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대당 4억 달러. 그러나 삼성·마이크론도 전부 산다 → 해자가 아닌 입장료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760220"/>
            <a:ext cx="8138160" cy="365760"/>
          </a:xfrm>
          <a:prstGeom prst="roundRect">
            <a:avLst>
              <a:gd name="adj" fmla="val 15000"/>
            </a:avLst>
          </a:prstGeom>
          <a:solidFill>
            <a:srgbClr val="1E2530"/>
          </a:solidFill>
          <a:ln w="12700">
            <a:solidFill>
              <a:srgbClr val="7A4E0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176022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33272" y="17602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HBM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90088" y="1842516"/>
            <a:ext cx="512064" cy="210312"/>
          </a:xfrm>
          <a:prstGeom prst="roundRect">
            <a:avLst>
              <a:gd name="adj" fmla="val 21739"/>
            </a:avLst>
          </a:prstGeom>
          <a:solidFill>
            <a:srgbClr val="FFA828"/>
          </a:solidFill>
          <a:ln w="12700">
            <a:solidFill>
              <a:srgbClr val="FFA8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90088" y="1842516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E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3648456" y="176022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매출의 심장. 1위가 흔들리는 지금이 지켜낼 마지막 시점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167128"/>
            <a:ext cx="8138160" cy="365760"/>
          </a:xfrm>
          <a:prstGeom prst="roundRect">
            <a:avLst>
              <a:gd name="adj" fmla="val 15000"/>
            </a:avLst>
          </a:prstGeom>
          <a:solidFill>
            <a:srgbClr val="10141C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216712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33272" y="21671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80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DRAM/NAND 3D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90088" y="2249424"/>
            <a:ext cx="512064" cy="210312"/>
          </a:xfrm>
          <a:prstGeom prst="roundRect">
            <a:avLst>
              <a:gd name="adj" fmla="val 21739"/>
            </a:avLst>
          </a:prstGeom>
          <a:solidFill>
            <a:srgbClr val="232A36"/>
          </a:solidFill>
          <a:ln w="12700">
            <a:solidFill>
              <a:srgbClr val="232A3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90088" y="2249424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탈락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3648456" y="2167128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1c·1d D램은 HBM4의 전제조건 — ② 예산 안에 이미 포함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2574036"/>
            <a:ext cx="8138160" cy="365760"/>
          </a:xfrm>
          <a:prstGeom prst="roundRect">
            <a:avLst>
              <a:gd name="adj" fmla="val 15000"/>
            </a:avLst>
          </a:prstGeom>
          <a:solidFill>
            <a:srgbClr val="1E2530"/>
          </a:solidFill>
          <a:ln w="12700">
            <a:solidFill>
              <a:srgbClr val="7A4E0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2574036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33272" y="257403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첨단 Packaging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990088" y="2656332"/>
            <a:ext cx="512064" cy="210312"/>
          </a:xfrm>
          <a:prstGeom prst="roundRect">
            <a:avLst>
              <a:gd name="adj" fmla="val 21739"/>
            </a:avLst>
          </a:prstGeom>
          <a:solidFill>
            <a:srgbClr val="FFA828"/>
          </a:solidFill>
          <a:ln w="12700">
            <a:solidFill>
              <a:srgbClr val="FFA82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990088" y="265633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E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3648456" y="2574036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MR-MUF가 곧 우리 1위의 근거. 파운드리 없는 우리의 유일한 무기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2980944"/>
            <a:ext cx="8138160" cy="365760"/>
          </a:xfrm>
          <a:prstGeom prst="roundRect">
            <a:avLst>
              <a:gd name="adj" fmla="val 15000"/>
            </a:avLst>
          </a:prstGeom>
          <a:solidFill>
            <a:srgbClr val="10141C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2980944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33272" y="298094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80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Fab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990088" y="3063240"/>
            <a:ext cx="512064" cy="210312"/>
          </a:xfrm>
          <a:prstGeom prst="roundRect">
            <a:avLst>
              <a:gd name="adj" fmla="val 21739"/>
            </a:avLst>
          </a:prstGeom>
          <a:solidFill>
            <a:srgbClr val="232A36"/>
          </a:solidFill>
          <a:ln w="12700">
            <a:solidFill>
              <a:srgbClr val="232A3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990088" y="3063240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탈락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3648456" y="2980944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용인 Y2·청주 M17에 54조 이미 집행 중 — 신규 전략투자 대상이 아님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3387852"/>
            <a:ext cx="8138160" cy="365760"/>
          </a:xfrm>
          <a:prstGeom prst="roundRect">
            <a:avLst>
              <a:gd name="adj" fmla="val 15000"/>
            </a:avLst>
          </a:prstGeom>
          <a:solidFill>
            <a:srgbClr val="10141C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" y="338785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33272" y="33878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80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스마트팩토리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990088" y="3470148"/>
            <a:ext cx="512064" cy="210312"/>
          </a:xfrm>
          <a:prstGeom prst="roundRect">
            <a:avLst>
              <a:gd name="adj" fmla="val 21739"/>
            </a:avLst>
          </a:prstGeom>
          <a:solidFill>
            <a:srgbClr val="232A36"/>
          </a:solidFill>
          <a:ln w="12700">
            <a:solidFill>
              <a:srgbClr val="232A3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990088" y="3470148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탈락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3648456" y="3387852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가우스랩스를 이미 보유. 수조 원 규모로 ② 예산 안에서 집행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2920" y="3794760"/>
            <a:ext cx="8138160" cy="365760"/>
          </a:xfrm>
          <a:prstGeom prst="roundRect">
            <a:avLst>
              <a:gd name="adj" fmla="val 15000"/>
            </a:avLst>
          </a:prstGeom>
          <a:solidFill>
            <a:srgbClr val="1E2530"/>
          </a:solidFill>
          <a:ln w="12700">
            <a:solidFill>
              <a:srgbClr val="7A4E0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85800" y="37947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33272" y="37947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소재·장비 공급망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990088" y="3877056"/>
            <a:ext cx="512064" cy="210312"/>
          </a:xfrm>
          <a:prstGeom prst="roundRect">
            <a:avLst>
              <a:gd name="adj" fmla="val 21739"/>
            </a:avLst>
          </a:prstGeom>
          <a:solidFill>
            <a:srgbClr val="FFA828"/>
          </a:solidFill>
          <a:ln w="12700">
            <a:solidFill>
              <a:srgbClr val="FFA82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990088" y="3877056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E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3648456" y="379476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언더필 100% 일본 단일 공급. ②④를 한 번에 0으로 만들 수 있는 변수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02920" y="4201668"/>
            <a:ext cx="8138160" cy="365760"/>
          </a:xfrm>
          <a:prstGeom prst="roundRect">
            <a:avLst>
              <a:gd name="adj" fmla="val 15000"/>
            </a:avLst>
          </a:prstGeom>
          <a:solidFill>
            <a:srgbClr val="10141C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85800" y="42016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⑧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1033272" y="42016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80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반도체 인재 양성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990088" y="4283964"/>
            <a:ext cx="512064" cy="210312"/>
          </a:xfrm>
          <a:prstGeom prst="roundRect">
            <a:avLst>
              <a:gd name="adj" fmla="val 21739"/>
            </a:avLst>
          </a:prstGeom>
          <a:solidFill>
            <a:srgbClr val="232A36"/>
          </a:solidFill>
          <a:ln w="12700">
            <a:solidFill>
              <a:srgbClr val="232A3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990088" y="4283964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탈락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3648456" y="4201668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2031년 5만 4천 명 부족 — 가장 아픈 탈락. 리드타임 10년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502920" y="4572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탈락 5개는 나쁜 항목이 아니라,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"메모리 회사에게 500조를 담을 그릇이 아닌 항목"</a:t>
            </a:r>
            <a:pPr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41148" cy="182880"/>
          </a:xfrm>
          <a:prstGeom prst="rect">
            <a:avLst/>
          </a:prstGeom>
          <a:solidFill>
            <a:srgbClr val="FFA8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2743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Layer 3 · HBM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HBM — 지금 지키지 않으면 </a:t>
            </a:r>
            <a:pPr indent="0" marL="0">
              <a:buNone/>
            </a:pPr>
            <a:r>
              <a:rPr lang="en-US" sz="27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5년 뒤 1위가 아닙니다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2587752" cy="1417320"/>
          </a:xfrm>
          <a:prstGeom prst="roundRect">
            <a:avLst>
              <a:gd name="adj" fmla="val 6452"/>
            </a:avLst>
          </a:prstGeom>
          <a:solidFill>
            <a:srgbClr val="161B2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0664" y="1517904"/>
            <a:ext cx="2130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546억$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121408"/>
            <a:ext cx="2130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HBM 시장 규모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전년 대비 +58%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40664" y="257860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BofA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374136" y="1389888"/>
            <a:ext cx="2587752" cy="1417320"/>
          </a:xfrm>
          <a:prstGeom prst="roundRect">
            <a:avLst>
              <a:gd name="adj" fmla="val 6452"/>
            </a:avLst>
          </a:prstGeom>
          <a:solidFill>
            <a:srgbClr val="161B2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1517904"/>
            <a:ext cx="2130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69→58%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121408"/>
            <a:ext cx="2130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점유율 1년 변화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1위지만 하락 중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57860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카운터포인트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45352" y="1389888"/>
            <a:ext cx="2587752" cy="1417320"/>
          </a:xfrm>
          <a:prstGeom prst="roundRect">
            <a:avLst>
              <a:gd name="adj" fmla="val 6452"/>
            </a:avLst>
          </a:prstGeom>
          <a:solidFill>
            <a:srgbClr val="1E2530"/>
          </a:solidFill>
          <a:ln w="12700">
            <a:solidFill>
              <a:srgbClr val="7A4E0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83096" y="1517904"/>
            <a:ext cx="2130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483096" y="2121408"/>
            <a:ext cx="2130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 46% vs 우리 37%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역전 전망 시점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83096" y="257860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번스타인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2920" y="3017520"/>
            <a:ext cx="8138160" cy="1481328"/>
          </a:xfrm>
          <a:prstGeom prst="roundRect">
            <a:avLst>
              <a:gd name="adj" fmla="val 6173"/>
            </a:avLst>
          </a:prstGeom>
          <a:solidFill>
            <a:srgbClr val="1E2530"/>
          </a:solidFill>
          <a:ln w="12700">
            <a:solidFill>
              <a:srgbClr val="7A4E0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163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250조를 이렇게 씁니다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52958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커스텀 베이스 다이 설계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85876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IP를 우리 손으로 내장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538728" y="352958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TSV · 16단 이상 적층 캐파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538728" y="385876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수율 60~70% → 80%대 목표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300216" y="352958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공동설계 전담 조직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300216" y="385876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양산 3년 전부터 붙는 구조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47411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BofA 2026 HBM 전망, 카운터포인트리서치 HBM 점유율, 번스타인 2027 전망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41148" cy="182880"/>
          </a:xfrm>
          <a:prstGeom prst="rect">
            <a:avLst/>
          </a:prstGeom>
          <a:solidFill>
            <a:srgbClr val="FFA8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2743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Insight 01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HBM4부터 메모리 회사는 </a:t>
            </a:r>
            <a:pPr indent="0" marL="0">
              <a:buNone/>
            </a:pPr>
            <a:r>
              <a:rPr lang="en-US" sz="27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파운드리의 고객</a:t>
            </a:r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됩니다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1481328"/>
            <a:ext cx="2240280" cy="201168"/>
          </a:xfrm>
          <a:prstGeom prst="rect">
            <a:avLst/>
          </a:prstGeom>
          <a:solidFill>
            <a:srgbClr val="273040"/>
          </a:solidFill>
          <a:ln w="12700">
            <a:solidFill>
              <a:srgbClr val="3944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2240280" cy="201168"/>
          </a:xfrm>
          <a:prstGeom prst="rect">
            <a:avLst/>
          </a:prstGeom>
          <a:solidFill>
            <a:srgbClr val="273040"/>
          </a:solidFill>
          <a:ln w="12700">
            <a:solidFill>
              <a:srgbClr val="3944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93392"/>
            <a:ext cx="2240280" cy="201168"/>
          </a:xfrm>
          <a:prstGeom prst="rect">
            <a:avLst/>
          </a:prstGeom>
          <a:solidFill>
            <a:srgbClr val="273040"/>
          </a:solidFill>
          <a:ln w="12700">
            <a:solidFill>
              <a:srgbClr val="3944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249424"/>
            <a:ext cx="2240280" cy="201168"/>
          </a:xfrm>
          <a:prstGeom prst="rect">
            <a:avLst/>
          </a:prstGeom>
          <a:solidFill>
            <a:srgbClr val="273040"/>
          </a:solidFill>
          <a:ln w="12700">
            <a:solidFill>
              <a:srgbClr val="3944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505456"/>
            <a:ext cx="2240280" cy="201168"/>
          </a:xfrm>
          <a:prstGeom prst="rect">
            <a:avLst/>
          </a:prstGeom>
          <a:solidFill>
            <a:srgbClr val="273040"/>
          </a:solidFill>
          <a:ln w="12700">
            <a:solidFill>
              <a:srgbClr val="3944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761488"/>
            <a:ext cx="2240280" cy="201168"/>
          </a:xfrm>
          <a:prstGeom prst="rect">
            <a:avLst/>
          </a:prstGeom>
          <a:solidFill>
            <a:srgbClr val="273040"/>
          </a:solidFill>
          <a:ln w="12700">
            <a:solidFill>
              <a:srgbClr val="3944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9544" y="1783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D램 × 12~16단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(우리 공정)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" y="3054096"/>
            <a:ext cx="2240280" cy="365760"/>
          </a:xfrm>
          <a:prstGeom prst="rect">
            <a:avLst/>
          </a:prstGeom>
          <a:solidFill>
            <a:srgbClr val="FFA828"/>
          </a:solidFill>
          <a:ln w="12700">
            <a:solidFill>
              <a:srgbClr val="FFA8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05409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E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BASE DIE (로직)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" y="3493008"/>
            <a:ext cx="2532888" cy="237744"/>
          </a:xfrm>
          <a:prstGeom prst="rect">
            <a:avLst/>
          </a:prstGeom>
          <a:solidFill>
            <a:srgbClr val="1A2029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" y="3493008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인터포저 / 패키지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209544" y="299923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여기가 TSMC 12nm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(우리 팹이 아님)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76656" y="3858768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HBM4 스택 구조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1444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4E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111496" y="1417320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삼성은 자기 팹에서, 우리는 남의 팹에서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111496" y="1728216"/>
            <a:ext cx="3529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삼성은 자사 파운드리 4nm로 베이스 다이를 만듭니다. 우리는 TSMC 12nm에 맡깁니다. 같은 제품인데 구조가 다릅니다.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24140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4E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111496" y="2386584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가격은 올랐는데 마진은 그만큼 안 옵니다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111496" y="2697480"/>
            <a:ext cx="3529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HBM4 단가는 30% 이상 올랐지만, 원가의 20%대가 로직 다이로 나갑니다. 오른 값의 일부를 남이 가져갑니다.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33832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4E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111496" y="3355848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커스텀 시대엔 고객 설계가 남의 팹을 지납니다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111496" y="3666744"/>
            <a:ext cx="3529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HBM4E부터 고객 IP가 베이스 다이에 들어갑니다. 그 설계가 우리 손을 거치지 않으면, 고객은 우리를 조립업체로 봅니다.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709160" y="43891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파운드리를 새로 짓자는 게 아닙니다. 베이스 다이 설계를 우리가 쥐자는 것입니다.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41148" cy="182880"/>
          </a:xfrm>
          <a:prstGeom prst="rect">
            <a:avLst/>
          </a:prstGeom>
          <a:solidFill>
            <a:srgbClr val="FFA8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2743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Layer 2 · Advanced Packaging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패키징은 우리에게 </a:t>
            </a:r>
            <a:pPr indent="0" marL="0">
              <a:buNone/>
            </a:pPr>
            <a:r>
              <a:rPr lang="en-US" sz="27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선택이 아니라 정체성</a:t>
            </a:r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</a:t>
            </a:r>
            <a:endParaRPr lang="en-US" sz="2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389888"/>
          <a:ext cx="38404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6년 만에 +78%   ·   출처: 욜그룹(Yole)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754880" y="1463040"/>
            <a:ext cx="3886200" cy="841248"/>
          </a:xfrm>
          <a:prstGeom prst="roundRect">
            <a:avLst>
              <a:gd name="adj" fmla="val 10870"/>
            </a:avLst>
          </a:prstGeom>
          <a:solidFill>
            <a:srgbClr val="161B2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956048" y="1572768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1위는 셀이 아니라 공법이었습니다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956048" y="1847088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경쟁사가 필름을 한 장씩 깔 때 우리는 액체를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부었습니다. 열전도율 2배, 그게 3년의 격차였습니다.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54880" y="2432304"/>
            <a:ext cx="3886200" cy="841248"/>
          </a:xfrm>
          <a:prstGeom prst="roundRect">
            <a:avLst>
              <a:gd name="adj" fmla="val 10870"/>
            </a:avLst>
          </a:prstGeom>
          <a:solidFill>
            <a:srgbClr val="161B2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56048" y="2542032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MR-MUF는 HBM4E에서 한계에 닿습니다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4956048" y="2816352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16단 이후는 하이브리드 본딩입니다.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공법을 남보다 먼저 갖지 못하면 격차는 끝납니다.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54880" y="3401568"/>
            <a:ext cx="3886200" cy="841248"/>
          </a:xfrm>
          <a:prstGeom prst="roundRect">
            <a:avLst>
              <a:gd name="adj" fmla="val 10870"/>
            </a:avLst>
          </a:prstGeom>
          <a:solidFill>
            <a:srgbClr val="161B2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956048" y="3511296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파운드리가 없는 우리의 유일한 무기입니다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4956048" y="3785616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미세공정으로는 삼성·TSMC를 못 이깁니다.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쌓고 붙이는 영역이 우리가 이길 수 있는 유일한 링입니다.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754880" y="44074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150조는 하이브리드 본딩과 베이스 다이 설계에 집중합니다.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41148" cy="182880"/>
          </a:xfrm>
          <a:prstGeom prst="rect">
            <a:avLst/>
          </a:prstGeom>
          <a:solidFill>
            <a:srgbClr val="FFA8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2743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Insight 02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패키징은 기술이 아니라 </a:t>
            </a:r>
            <a:pPr indent="0" marL="0">
              <a:buNone/>
            </a:pPr>
            <a:r>
              <a:rPr lang="en-US" sz="27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마진 회수 투자</a:t>
            </a:r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31920" cy="2606040"/>
          </a:xfrm>
          <a:prstGeom prst="roundRect">
            <a:avLst>
              <a:gd name="adj" fmla="val 3509"/>
            </a:avLst>
          </a:prstGeom>
          <a:solidFill>
            <a:srgbClr val="10141C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0664" y="15727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1810512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5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쌓아서 넘깁니다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664" y="2322576"/>
            <a:ext cx="82296" cy="82296"/>
          </a:xfrm>
          <a:prstGeom prst="rect">
            <a:avLst/>
          </a:prstGeom>
          <a:solidFill>
            <a:srgbClr val="5C667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41832" y="2231136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D램 적층 · TSV · MR-MUF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0664" y="2688336"/>
            <a:ext cx="82296" cy="82296"/>
          </a:xfrm>
          <a:prstGeom prst="rect">
            <a:avLst/>
          </a:prstGeom>
          <a:solidFill>
            <a:srgbClr val="3A20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2596896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5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언더필 소재 → 일본 나믹스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0664" y="3054096"/>
            <a:ext cx="82296" cy="82296"/>
          </a:xfrm>
          <a:prstGeom prst="rect">
            <a:avLst/>
          </a:prstGeom>
          <a:solidFill>
            <a:srgbClr val="3A202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41832" y="2962656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5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몰딩 장비 → 일본 토와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0664" y="3419856"/>
            <a:ext cx="82296" cy="82296"/>
          </a:xfrm>
          <a:prstGeom prst="rect">
            <a:avLst/>
          </a:prstGeom>
          <a:solidFill>
            <a:srgbClr val="3A20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41832" y="3328416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5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베이스 다이 → TSMC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" y="3675888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6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1위인데 급소는 전부 밖에 있습니다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53712" y="2514600"/>
            <a:ext cx="384048" cy="329184"/>
          </a:xfrm>
          <a:prstGeom prst="rightArrow">
            <a:avLst/>
          </a:prstGeom>
          <a:solidFill>
            <a:srgbClr val="7A4E08"/>
          </a:solidFill>
          <a:ln w="12700">
            <a:solidFill>
              <a:srgbClr val="7A4E0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56632" y="1417320"/>
            <a:ext cx="3931920" cy="2606040"/>
          </a:xfrm>
          <a:prstGeom prst="roundRect">
            <a:avLst>
              <a:gd name="adj" fmla="val 3509"/>
            </a:avLst>
          </a:prstGeom>
          <a:solidFill>
            <a:srgbClr val="1E2530"/>
          </a:solidFill>
          <a:ln w="12700">
            <a:solidFill>
              <a:srgbClr val="7A4E0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94376" y="15727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294376" y="1810512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완성해서 팝니다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294376" y="2322576"/>
            <a:ext cx="82296" cy="82296"/>
          </a:xfrm>
          <a:prstGeom prst="rect">
            <a:avLst/>
          </a:prstGeom>
          <a:solidFill>
            <a:srgbClr val="FFA82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95544" y="2231136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D램 적층 · TSV · 하이브리드 본딩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94376" y="2688336"/>
            <a:ext cx="82296" cy="82296"/>
          </a:xfrm>
          <a:prstGeom prst="rect">
            <a:avLst/>
          </a:prstGeom>
          <a:solidFill>
            <a:srgbClr val="FFA82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95544" y="2596896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언더필 소재 → 국산 이원화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294376" y="3054096"/>
            <a:ext cx="82296" cy="82296"/>
          </a:xfrm>
          <a:prstGeom prst="rect">
            <a:avLst/>
          </a:prstGeom>
          <a:solidFill>
            <a:srgbClr val="FFA82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95544" y="2962656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몰딩·본딩 장비 → 국내 지분사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294376" y="3419856"/>
            <a:ext cx="82296" cy="82296"/>
          </a:xfrm>
          <a:prstGeom prst="rect">
            <a:avLst/>
          </a:prstGeom>
          <a:solidFill>
            <a:srgbClr val="FFA82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95544" y="3328416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베이스 다이 → 우리가 설계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294376" y="3675888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 단위로 값을 매깁니다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426110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D램을 파는 회사에서, 완성된 AI 메모리 시스템을 파는 회사로.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41148" cy="182880"/>
          </a:xfrm>
          <a:prstGeom prst="rect">
            <a:avLst/>
          </a:prstGeom>
          <a:solidFill>
            <a:srgbClr val="FFA8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2743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Layer 1 · Supply Chain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1위의 소재는 </a:t>
            </a:r>
            <a:pPr indent="0" marL="0">
              <a:buNone/>
            </a:pPr>
            <a:r>
              <a:rPr lang="en-US" sz="27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일본 회사 한 곳</a:t>
            </a:r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만듭니다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2587752" cy="1325880"/>
          </a:xfrm>
          <a:prstGeom prst="roundRect">
            <a:avLst>
              <a:gd name="adj" fmla="val 6897"/>
            </a:avLst>
          </a:prstGeom>
          <a:solidFill>
            <a:srgbClr val="1E2530"/>
          </a:solidFill>
          <a:ln w="12700">
            <a:solidFill>
              <a:srgbClr val="7A4E0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0664" y="1499616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084832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MR-MUF 언더필 소재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일본 나믹스 단독 공급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74136" y="1389888"/>
            <a:ext cx="2587752" cy="1325880"/>
          </a:xfrm>
          <a:prstGeom prst="roundRect">
            <a:avLst>
              <a:gd name="adj" fmla="val 6897"/>
            </a:avLst>
          </a:prstGeom>
          <a:solidFill>
            <a:srgbClr val="161B2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1499616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60~70%</a:t>
            </a:r>
            <a:endParaRPr lang="en-US" sz="31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084832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몰딩 장비 시장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일본 토와(TOWA) 점유율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45352" y="1389888"/>
            <a:ext cx="2587752" cy="1325880"/>
          </a:xfrm>
          <a:prstGeom prst="roundRect">
            <a:avLst>
              <a:gd name="adj" fmla="val 6897"/>
            </a:avLst>
          </a:prstGeom>
          <a:solidFill>
            <a:srgbClr val="161B2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83096" y="1499616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20%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6483096" y="2084832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반도체 장비 국산화율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80%는 수입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926080"/>
            <a:ext cx="8138160" cy="1207008"/>
          </a:xfrm>
          <a:prstGeom prst="roundRect">
            <a:avLst>
              <a:gd name="adj" fmla="val 7576"/>
            </a:avLst>
          </a:prstGeom>
          <a:solidFill>
            <a:srgbClr val="1E2530"/>
          </a:solidFill>
          <a:ln w="12700">
            <a:solidFill>
              <a:srgbClr val="7A4E0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5528" y="309067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· ④ 는 덧셈, ⑦ 은 곱셈입니다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3438144"/>
            <a:ext cx="7552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HBM을 아무리 잘 쌓아도, 언더필 한 통이 안 오면 라인 전체가 섭니다. 그리고 그 독점 공급 계약은 만료를 앞두고 있습니다.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계약이 풀리면 경쟁사도, 중국 CXMT도 같은 소재를 쓸 수 있습니다. 우리 격차의 근거가 사라지는 것입니다.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500조 중 100조는 '수익'이 아니라 '나머지 400조가 작동하게 하는 조건'에 씁니다.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47411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KIPOST·ZDNet 언더필 공급구조, 시사저널e 몰딩 장비 의존도, 산업부 소부장 자립화 점검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41148" cy="182880"/>
          </a:xfrm>
          <a:prstGeom prst="rect">
            <a:avLst/>
          </a:prstGeom>
          <a:solidFill>
            <a:srgbClr val="FFA8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2743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Execution Idea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다만 우리는 소재를 </a:t>
            </a:r>
            <a:pPr indent="0" marL="0">
              <a:buNone/>
            </a:pPr>
            <a:r>
              <a:rPr lang="en-US" sz="27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'사지' 않고 '키웁니다'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2587752" cy="2542032"/>
          </a:xfrm>
          <a:prstGeom prst="roundRect">
            <a:avLst>
              <a:gd name="adj" fmla="val 3597"/>
            </a:avLst>
          </a:prstGeom>
          <a:solidFill>
            <a:srgbClr val="161B2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" y="1554480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FFA828"/>
          </a:solidFill>
          <a:ln w="12700">
            <a:solidFill>
              <a:srgbClr val="FFA82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" y="1554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0E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40조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40664" y="192024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소부장 지분 인수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2267712"/>
            <a:ext cx="213055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언더필·몰딩·본딩 장비사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20~30곳의 지분을 확보합니다.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R&amp;D는 그들이 하고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리스크는 나눠서 집니다.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지분은 회수 가능한 자산입니다.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74136" y="1389888"/>
            <a:ext cx="2587752" cy="2542032"/>
          </a:xfrm>
          <a:prstGeom prst="roundRect">
            <a:avLst>
              <a:gd name="adj" fmla="val 3597"/>
            </a:avLst>
          </a:prstGeom>
          <a:solidFill>
            <a:srgbClr val="161B2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1554480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FFA828"/>
          </a:solidFill>
          <a:ln w="12700">
            <a:solidFill>
              <a:srgbClr val="FFA82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1554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0E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30조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192024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앵커 커스터머 계약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2267712"/>
            <a:ext cx="213055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5년 전량 구매를 미리 확약합니다.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소부장이 국산화에 실패하는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이유는 기술이 아니라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"만들어도 안 사준다"입니다.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이유를 우리가 없앱니다.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45352" y="1389888"/>
            <a:ext cx="2587752" cy="2542032"/>
          </a:xfrm>
          <a:prstGeom prst="roundRect">
            <a:avLst>
              <a:gd name="adj" fmla="val 3597"/>
            </a:avLst>
          </a:prstGeom>
          <a:solidFill>
            <a:srgbClr val="161B2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83096" y="1554480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FFA828"/>
          </a:solidFill>
          <a:ln w="12700">
            <a:solidFill>
              <a:srgbClr val="FFA8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83096" y="1554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0E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30조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83096" y="192024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미니팹 전면 개방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83096" y="2267712"/>
            <a:ext cx="213055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용인 클러스터 미니팹을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소부장 검증 라인으로 엽니다.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검증에 3년 걸리던 국산 소재를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안에 양산에 태웁니다.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돈보다 빠른 게 검증 기회입니다.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078224"/>
            <a:ext cx="8138160" cy="603504"/>
          </a:xfrm>
          <a:prstGeom prst="roundRect">
            <a:avLst>
              <a:gd name="adj" fmla="val 15152"/>
            </a:avLst>
          </a:prstGeom>
          <a:solidFill>
            <a:srgbClr val="1E2530"/>
          </a:solidFill>
          <a:ln w="12700">
            <a:solidFill>
              <a:srgbClr val="7A4E0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07822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100조 중 40조는 지분입니다.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실패해도 자산으로 남습니다 — 실질 소각 비용은 60조입니다.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41148" cy="182880"/>
          </a:xfrm>
          <a:prstGeom prst="rect">
            <a:avLst/>
          </a:prstGeom>
          <a:solidFill>
            <a:srgbClr val="FFA8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2743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Rebuttal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반박에 </a:t>
            </a:r>
            <a:pPr indent="0" marL="0">
              <a:buNone/>
            </a:pPr>
            <a:r>
              <a:rPr lang="en-US" sz="27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답합니다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8138160" cy="640080"/>
          </a:xfrm>
          <a:prstGeom prst="roundRect">
            <a:avLst>
              <a:gd name="adj" fmla="val 14286"/>
            </a:avLst>
          </a:prstGeom>
          <a:solidFill>
            <a:srgbClr val="161B2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0664" y="142646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"③ 3D D램을 버립니까?"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172968" y="1417320"/>
            <a:ext cx="5230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회사가 셀을 버릴 수는 없습니다. 다만 지난 3년 우리를 1위로 만든 건 셀 미세화가 아니라 패키징이었습니다. 1c·1d D램은 HBM4의 전제조건이라 ② 예산에 이미 들어 있고, 3D D램 양산은 2030년대 초 — 이 5년 창 밖입니다.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2121408"/>
            <a:ext cx="8138160" cy="640080"/>
          </a:xfrm>
          <a:prstGeom prst="roundRect">
            <a:avLst>
              <a:gd name="adj" fmla="val 14286"/>
            </a:avLst>
          </a:prstGeom>
          <a:solidFill>
            <a:srgbClr val="161B2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0664" y="217627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"⑤ 신규 Fab 없이 됩니까?"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172968" y="2167128"/>
            <a:ext cx="5230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용인 Y2와 청주 M17에 54조가 이미 집행 중입니다. 진행 중인 사업이지 새로 고를 항목이 아닙니다. 용인 1기 팹 하나가 장비 제외 31조인데, 여기에 500조를 넣으면 그걸로 끝납니다.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871216"/>
            <a:ext cx="8138160" cy="640080"/>
          </a:xfrm>
          <a:prstGeom prst="roundRect">
            <a:avLst>
              <a:gd name="adj" fmla="val 14286"/>
            </a:avLst>
          </a:prstGeom>
          <a:solidFill>
            <a:srgbClr val="161B2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" y="292608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"⑥ AI 스마트팩토리는요?"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172968" y="2916936"/>
            <a:ext cx="5230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이미 가우스랩스를 갖고 있습니다. 효과는 확실하지만 수조 원 규모입니다. HBM 수율 60~70%를 끌어올리는 수단으로 ② 예산 안에서 집행합니다.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621024"/>
            <a:ext cx="8138160" cy="640080"/>
          </a:xfrm>
          <a:prstGeom prst="roundRect">
            <a:avLst>
              <a:gd name="adj" fmla="val 14286"/>
            </a:avLst>
          </a:prstGeom>
          <a:solidFill>
            <a:srgbClr val="161B2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0664" y="367588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"⑧ 인재를 포기합니까?"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172968" y="3666744"/>
            <a:ext cx="5230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2031년 5만 4천 명 부족 — 가장 아픈 탈락입니다. 다만 리드타임이 10년이라 5년 전략의 독립 항목이 될 수 없습니다. 세 층 예산 각각에 인재 확보 비용을 내장했습니다.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44439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많이 나올 질문 — "① EUV는요?" — 은 다음 장에서 따로 답하겠습니다.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A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45720" cy="201168"/>
          </a:xfrm>
          <a:prstGeom prst="rect">
            <a:avLst/>
          </a:prstGeom>
          <a:solidFill>
            <a:srgbClr val="0B0E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30936" y="4206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0E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Big Question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686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2E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"우리가 High-NA 1호 도입사인데, EUV가 없다고요?"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50" kern="0" dirty="0">
                <a:solidFill>
                  <a:srgbClr val="0B0E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 수 있는 건, 경쟁사도 삽니다.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FFC168"/>
          </a:solidFill>
          <a:ln w="12700">
            <a:solidFill>
              <a:srgbClr val="E893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22376" y="243230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E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4억 달러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22376" y="28163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D25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대당 가격, 그러나 독점이 아닙니다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22376" y="3291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3B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ASML은 삼성·인텔·마이크론에도 똑같이 팝니다.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3B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모두가 가진 것은 해자가 아니라 입장료입니다.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74136" y="233172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FFC168"/>
          </a:solidFill>
          <a:ln w="12700">
            <a:solidFill>
              <a:srgbClr val="E893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93592" y="243230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E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TSMC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28163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D25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파운드리 1위조차 도입을 유예했습니다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3291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3B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대비 효익이 아직 증명되지 않았습니다.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3B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D램에서 EUV 레이어 수는 여전히 제한적입니다.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45352" y="233172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FFC168"/>
          </a:solidFill>
          <a:ln w="12700">
            <a:solidFill>
              <a:srgbClr val="E893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4808" y="243230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E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64808" y="28163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D25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사되, 500조와 회계를 분리합니다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64808" y="3291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3B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이미 M16에 도입했습니다.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3B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이건 매년 집행하는 유지 CapEx이지,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3B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 투자 500조의 항목이 아닙니다.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18795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E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EUV를 포기한 게 아닙니다. EUV를 '차별화 요소'라고 부르지 않을 뿐입니다.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41148" cy="182880"/>
          </a:xfrm>
          <a:prstGeom prst="rect">
            <a:avLst/>
          </a:prstGeom>
          <a:solidFill>
            <a:srgbClr val="FFA8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2743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Allocation &amp; Roadmap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500조, </a:t>
            </a:r>
            <a:pPr indent="0" marL="0">
              <a:buNone/>
            </a:pPr>
            <a:r>
              <a:rPr lang="en-US" sz="27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씁니다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4032504" cy="566928"/>
          </a:xfrm>
          <a:prstGeom prst="rect">
            <a:avLst/>
          </a:prstGeom>
          <a:solidFill>
            <a:srgbClr val="FFA8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" y="138988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E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HBM  250조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389888"/>
            <a:ext cx="3867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0E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389888"/>
            <a:ext cx="2404872" cy="566928"/>
          </a:xfrm>
          <a:prstGeom prst="rect">
            <a:avLst/>
          </a:prstGeom>
          <a:solidFill>
            <a:srgbClr val="3A465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36592" y="1389888"/>
            <a:ext cx="2167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첨단 패키징  150조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38988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13448" y="1389888"/>
            <a:ext cx="1591056" cy="566928"/>
          </a:xfrm>
          <a:prstGeom prst="rect">
            <a:avLst/>
          </a:prstGeom>
          <a:solidFill>
            <a:srgbClr val="222A3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78040" y="1389888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 소부장  100조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013448" y="1389888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20%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20665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균등 배분하지 않았습니다. 500조는 우리 5년치 영업이익을 전부 쏟아도 모자란 돈입니다.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487168"/>
            <a:ext cx="2587752" cy="1975104"/>
          </a:xfrm>
          <a:prstGeom prst="roundRect">
            <a:avLst>
              <a:gd name="adj" fmla="val 4630"/>
            </a:avLst>
          </a:prstGeom>
          <a:solidFill>
            <a:srgbClr val="161B2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" y="263347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A4E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YEAR 1–2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22376" y="288950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막는다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" y="3328416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언더필 국산 2nd 소스 확보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하이브리드 본딩 파일럿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소부장 20개사 지분 인수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74136" y="2487168"/>
            <a:ext cx="2587752" cy="1975104"/>
          </a:xfrm>
          <a:prstGeom prst="roundRect">
            <a:avLst>
              <a:gd name="adj" fmla="val 4630"/>
            </a:avLst>
          </a:prstGeom>
          <a:solidFill>
            <a:srgbClr val="161B2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93592" y="263347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A4E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YEAR 3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593592" y="288950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바꾼다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3593592" y="3328416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베이스 다이 테이프아웃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HBM5 개발 착수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국산 소재 1차 양산 전환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45352" y="2487168"/>
            <a:ext cx="2587752" cy="1975104"/>
          </a:xfrm>
          <a:prstGeom prst="roundRect">
            <a:avLst>
              <a:gd name="adj" fmla="val 4630"/>
            </a:avLst>
          </a:prstGeom>
          <a:solidFill>
            <a:srgbClr val="1E2530"/>
          </a:solidFill>
          <a:ln w="12700">
            <a:solidFill>
              <a:srgbClr val="7A4E0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64808" y="263347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A4E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YEAR 4–5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464808" y="288950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판다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6464808" y="3328416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 단위 판매로 전환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소부장 자립률 30% → 60%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커스텀 장기계약 60% 이상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41148" cy="182880"/>
          </a:xfrm>
          <a:prstGeom prst="rect">
            <a:avLst/>
          </a:prstGeom>
          <a:solidFill>
            <a:srgbClr val="FFA8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2743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Risk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우리도 이게 </a:t>
            </a:r>
            <a:pPr indent="0" marL="0">
              <a:buNone/>
            </a:pPr>
            <a:r>
              <a:rPr lang="en-US" sz="27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도박인 걸 압니다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8138160" cy="713232"/>
          </a:xfrm>
          <a:prstGeom prst="roundRect">
            <a:avLst>
              <a:gd name="adj" fmla="val 12821"/>
            </a:avLst>
          </a:prstGeom>
          <a:solidFill>
            <a:srgbClr val="161B2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" y="1664208"/>
            <a:ext cx="82296" cy="82296"/>
          </a:xfrm>
          <a:prstGeom prst="rect">
            <a:avLst/>
          </a:prstGeom>
          <a:solidFill>
            <a:srgbClr val="FFA8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1832" y="144475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투자 사이클이 꺾인다면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685032" y="1444752"/>
            <a:ext cx="4718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커스텀 HBM 장기계약 비중을 60% 이상으로 올려 수요를 고정합니다. 범용 물량이 아니라 계약 물량으로 버팁니다.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249424"/>
            <a:ext cx="8138160" cy="713232"/>
          </a:xfrm>
          <a:prstGeom prst="roundRect">
            <a:avLst>
              <a:gd name="adj" fmla="val 12821"/>
            </a:avLst>
          </a:prstGeom>
          <a:solidFill>
            <a:srgbClr val="161B2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" y="2523744"/>
            <a:ext cx="82296" cy="82296"/>
          </a:xfrm>
          <a:prstGeom prst="rect">
            <a:avLst/>
          </a:prstGeom>
          <a:solidFill>
            <a:srgbClr val="FFA82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2304288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하이브리드 본딩에서 밀린다면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685032" y="2304288"/>
            <a:ext cx="4718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MR-MUF는 HBM4E 16단까지 버팁니다. 그 사이 OSAT 인수로 시간을 삽니다. 기술은 살 수 있지만 고객 관계는 못 삽니다.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108960"/>
            <a:ext cx="8138160" cy="713232"/>
          </a:xfrm>
          <a:prstGeom prst="roundRect">
            <a:avLst>
              <a:gd name="adj" fmla="val 12821"/>
            </a:avLst>
          </a:prstGeom>
          <a:solidFill>
            <a:srgbClr val="161B2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" y="3383280"/>
            <a:ext cx="82296" cy="82296"/>
          </a:xfrm>
          <a:prstGeom prst="rect">
            <a:avLst/>
          </a:prstGeom>
          <a:solidFill>
            <a:srgbClr val="FFA82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41832" y="3163824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소부장 지분 투자가 실패한다면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685032" y="3163824"/>
            <a:ext cx="4718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40조는 지분이라 회수 가능합니다. 최악의 경우에도 100조가 전부 사라지지는 않습니다.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986784"/>
            <a:ext cx="8138160" cy="658368"/>
          </a:xfrm>
          <a:prstGeom prst="roundRect">
            <a:avLst>
              <a:gd name="adj" fmla="val 13889"/>
            </a:avLst>
          </a:prstGeom>
          <a:solidFill>
            <a:srgbClr val="1E2530"/>
          </a:solidFill>
          <a:ln w="12700">
            <a:solidFill>
              <a:srgbClr val="7A4E0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986784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가장 큰 리스크는 </a:t>
            </a:r>
            <a:pPr indent="0" marL="0">
              <a:buNone/>
            </a:pPr>
            <a:r>
              <a:rPr lang="en-US" sz="13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1위라는 이유로 지금 구조를 그대로 두는 것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1188720"/>
            <a:ext cx="2103120" cy="329184"/>
          </a:xfrm>
          <a:prstGeom prst="roundRect">
            <a:avLst>
              <a:gd name="adj" fmla="val 13889"/>
            </a:avLst>
          </a:prstGeom>
          <a:solidFill>
            <a:srgbClr val="FFA828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55080" y="1627632"/>
            <a:ext cx="2103120" cy="329184"/>
          </a:xfrm>
          <a:prstGeom prst="roundRect">
            <a:avLst>
              <a:gd name="adj" fmla="val 13889"/>
            </a:avLst>
          </a:prstGeom>
          <a:solidFill>
            <a:srgbClr val="3A4658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55080" y="2066544"/>
            <a:ext cx="2103120" cy="329184"/>
          </a:xfrm>
          <a:prstGeom prst="roundRect">
            <a:avLst>
              <a:gd name="adj" fmla="val 13889"/>
            </a:avLst>
          </a:prstGeom>
          <a:solidFill>
            <a:srgbClr val="222A38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0920" y="1097280"/>
            <a:ext cx="45720" cy="1389888"/>
          </a:xfrm>
          <a:prstGeom prst="rect">
            <a:avLst/>
          </a:prstGeom>
          <a:solidFill>
            <a:srgbClr val="C4780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1704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STACK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572768"/>
            <a:ext cx="5577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D램을 파는 회사에서,
</a:t>
            </a:r>
            <a:pPr indent="0" marL="0">
              <a:lnSpc>
                <a:spcPts val="4400"/>
              </a:lnSpc>
              <a:buNone/>
            </a:pPr>
            <a:r>
              <a:rPr lang="en-US" sz="30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연산의 병목</a:t>
            </a:r>
            <a:pPr indent="0" marL="0">
              <a:lnSpc>
                <a:spcPts val="4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파는</a:t>
            </a:r>
            <a:endParaRPr lang="en-US" sz="3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회사가 됩니다.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3346704"/>
            <a:ext cx="1280160" cy="18288"/>
          </a:xfrm>
          <a:prstGeom prst="rect">
            <a:avLst/>
          </a:prstGeom>
          <a:solidFill>
            <a:srgbClr val="2C34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352958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HBM  ·  ④ 첨단 Packaging  ·  ⑦ 소재 · 장비 공급망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8770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500조 원 · 5년 · 우리 1위의 다리를 전부 우리 것으로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29768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STACK - 메모리 회사의 500조 투자 전략</dc:title>
  <dc:subject>PptxGenJS Presentation</dc:subject>
  <dc:creator>PptxGenJS</dc:creator>
  <cp:lastModifiedBy>PptxGenJS</cp:lastModifiedBy>
  <cp:revision>1</cp:revision>
  <dcterms:created xsi:type="dcterms:W3CDTF">2026-09-04T08:07:19Z</dcterms:created>
  <dcterms:modified xsi:type="dcterms:W3CDTF">2026-09-04T08:07:19Z</dcterms:modified>
</cp:coreProperties>
</file>