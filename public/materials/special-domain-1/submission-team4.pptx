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단일 공급자 점유율</c:v>
                </c:pt>
              </c:strCache>
            </c:strRef>
          </c:tx>
          <c:spPr>
            <a:solidFill>
              <a:srgbClr val="C4622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B364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62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62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62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62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C4D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C4D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9C4D2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9C4D2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칼 자이스
(EUV 광학계)</c:v>
                  </c:pt>
                  <c:pt idx="1">
                    <c:v>ASML
(EUV 노광기)</c:v>
                  </c:pt>
                  <c:pt idx="2">
                    <c:v>아지노모토
(ABF 필름)</c:v>
                  </c:pt>
                  <c:pt idx="3">
                    <c:v>나믹스
(언더필)</c:v>
                  </c:pt>
                  <c:pt idx="4">
                    <c:v>스프루스파인
(고순도 석영)</c:v>
                  </c:pt>
                  <c:pt idx="5">
                    <c:v>디스코
(그라인더)</c:v>
                  </c:pt>
                  <c:pt idx="6">
                    <c:v>한미반도체
(TC 본더)</c:v>
                  </c:pt>
                  <c:pt idx="7">
                    <c:v>TSMC
(CoWoS)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80</c:v>
                </c:pt>
                <c:pt idx="5">
                  <c:v>75</c:v>
                </c:pt>
                <c:pt idx="6">
                  <c:v>71</c:v>
                </c:pt>
                <c:pt idx="7">
                  <c:v>70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2B364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36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여는 말: 오늘 발표는 'AI 데이터센터를 어떻게 짓느냐'가 아니라 '어떻게 하면 못 짓게 되느냐'를 거꾸로 추적한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30초 안에 읽고 넘깁니다. 마지막 문장만 또박또박.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핵심: 병목이 연산이 아니라 메모리와 패키징으로 옮겨갔다는 사실.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HBM4를 고른 이유 두 가지: 실제 병목이고, 한국 팀이 분석할 가치가 가장 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청중에게 질문을 던지고 시작: 여러분은 몇 번이 제일 위험해 보이나요?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'그럼 100%짜리 넷 중에 답이 있겠네'라는 기대를 심어두고, 다음 장에서 배신합니다.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MIT 심치-레비 교수의 TTR/TTS 프레임워크를 차용. 자동차·전자 업계 실무에서 쓰는 방법론이라고 한마디 붙일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중국이 EUV 자립에서 가장 크게 막힌 지점도 칼자이스 광학계 조달이었다는 사실을 덧붙이면 설득력이 커집니다.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발표의 훅입니다. '조미료 회사'에서 한 박자 쉬어주세요.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질의응답에서 이 반론이 나오면 이 장으로 돌아오세요. 반론을 미리 인정하는 것이 가장 강한 방어입니다.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문장으로 닫고 질의응답으로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691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AI를 멈추는</a:t>
            </a:r>
            <a:endParaRPr lang="en-US" sz="52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쉬운 방법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공급망 지도와, 지도 끝에서 발견한 하나의 급소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66960" y="2331720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27334A"/>
          </a:solidFill>
          <a:ln w="12700">
            <a:solidFill>
              <a:srgbClr val="273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0" y="2898648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C4622D"/>
          </a:solidFill>
          <a:ln w="12700">
            <a:solidFill>
              <a:srgbClr val="2733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6960" y="3465576"/>
            <a:ext cx="1600200" cy="402336"/>
          </a:xfrm>
          <a:prstGeom prst="roundRect">
            <a:avLst>
              <a:gd name="adj" fmla="val 11364"/>
            </a:avLst>
          </a:prstGeom>
          <a:solidFill>
            <a:srgbClr val="27334A"/>
          </a:solidFill>
          <a:ln w="12700">
            <a:solidFill>
              <a:srgbClr val="2733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5943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3분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4505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7단계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1821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모래에서 데이터센터까지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5295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한 개가 완성되기까지 거치는 공정 계층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98848" y="224028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18888" y="24505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9개국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18888" y="31821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지도에 등장하는 나라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18888" y="35295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미국·일본·대만·한국·네덜란드·독일 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11896" y="2240280"/>
            <a:ext cx="3429000" cy="2057400"/>
          </a:xfrm>
          <a:prstGeom prst="roundRect">
            <a:avLst>
              <a:gd name="adj" fmla="val 266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31936" y="245059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 1곳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8631936" y="31821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대체를 아무도 시작하지 않은 지점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31936" y="352958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나머지는 전부 대체가 진행 중이었다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681728"/>
            <a:ext cx="10817352" cy="1005840"/>
          </a:xfrm>
          <a:prstGeom prst="roundRect">
            <a:avLst>
              <a:gd name="adj" fmla="val 5455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681728"/>
            <a:ext cx="9994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결론 — 독일 시골 마을의 렌즈 공장 한 곳이, 전 세계 AI 데이터센터의 증설 속도를 결정하고 있다.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제기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데이터센터를 못 짓는 이유는</a:t>
            </a:r>
            <a:endParaRPr lang="en-US" sz="3200" dirty="0"/>
          </a:p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GPU가 아닙니다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697480"/>
            <a:ext cx="5486400" cy="2606040"/>
          </a:xfrm>
          <a:prstGeom prst="roundRect">
            <a:avLst>
              <a:gd name="adj" fmla="val 2105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971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쉽게 말하면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10128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GPU는 요리사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메모리는 재료를 나르는 컨베이어벨트입니다.
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주방에 요리사를 아무리 더 넣어도, 재료가 제때 오지 않으면 요리는 그만큼밖에 안 나옵니다. 지금 AI 데이터센터가 딱 그 상태입니다.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20840" y="2843784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843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275234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SK하이닉스: “향후 3년간 고객 요청 수요가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당사 공급 캐파를 훨씬 상회”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720840" y="3803904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371246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엔비디아·구글·아마존·AMD의 첨단 패키징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주문은 이미 전량 예약 완료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720840" y="4764024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4764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467258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가격은 2026년 상반기 계약가 기준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직전 분기 대비 50% 이상 급등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분석 대상 선정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 우리는 GPU 대신</a:t>
            </a:r>
            <a:endParaRPr lang="en-US" sz="3200" dirty="0"/>
          </a:p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HBM4를 추적했습니다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HBM이 뭔가요?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127248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일반 D램이 '책상 한 개'라면,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HBM은 그 책상을 12~16층으로 쌓고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층마다 엘리베이터를 1,000개 넘게 뚫은 것입니다.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쌓는 것 자체가 어렵고, 한 층이라도 틀어지면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버려야 해서 아무나 못 만듭니다.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92240" y="2606040"/>
            <a:ext cx="5029200" cy="3063240"/>
          </a:xfrm>
          <a:prstGeom prst="roundRect">
            <a:avLst>
              <a:gd name="adj" fmla="val 1791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76288" y="2834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HBM4 점유율 전망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76288" y="3310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3337560"/>
            <a:ext cx="1965960" cy="237744"/>
          </a:xfrm>
          <a:prstGeom prst="roundRect">
            <a:avLst>
              <a:gd name="adj" fmla="val 11538"/>
            </a:avLst>
          </a:prstGeom>
          <a:solidFill>
            <a:srgbClr val="C46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42448" y="33009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54–55%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76288" y="3968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66760" y="3995928"/>
            <a:ext cx="1014984" cy="237744"/>
          </a:xfrm>
          <a:prstGeom prst="roundRect">
            <a:avLst>
              <a:gd name="adj" fmla="val 11538"/>
            </a:avLst>
          </a:prstGeom>
          <a:solidFill>
            <a:srgbClr val="C3CC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491472" y="3959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28–29%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76288" y="4626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마이크론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4654296"/>
            <a:ext cx="621792" cy="237744"/>
          </a:xfrm>
          <a:prstGeom prst="roundRect">
            <a:avLst>
              <a:gd name="adj" fmla="val 11538"/>
            </a:avLst>
          </a:prstGeom>
          <a:solidFill>
            <a:srgbClr val="C3CC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98280" y="4617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17–18%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5074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삼성전자는 2026년 2월 세계 최초로 HBM4를 양산 출하했고,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SK하이닉스는 하반기 양산을 본격 확대하고 있습니다.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80644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한국이 주인공인 유일한 최첨단 칩이자, 동시에 가장 많은 나라에 목줄이 잡힌 칩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SUPPLY CHAIN 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모래 한 줌에서 데이터센터까지, 7단계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55648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HBM4 한 개가 완성되려면 최소 9개국의 손을 거칩니다.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39496" y="2651760"/>
            <a:ext cx="1481328" cy="1783080"/>
          </a:xfrm>
          <a:prstGeom prst="roundRect">
            <a:avLst>
              <a:gd name="adj" fmla="val 370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9496" y="32461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원재료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" y="36118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석영 · 실리콘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3776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· 노르웨이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4268" y="2651760"/>
            <a:ext cx="1481328" cy="1783080"/>
          </a:xfrm>
          <a:prstGeom prst="roundRect">
            <a:avLst>
              <a:gd name="adj" fmla="val 370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44268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144268" y="32461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웨이퍼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35708" y="36118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잉곳 · 도가니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98548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· 독일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2651760"/>
            <a:ext cx="1481328" cy="1783080"/>
          </a:xfrm>
          <a:prstGeom prst="roundRect">
            <a:avLst>
              <a:gd name="adj" fmla="val 370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9040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32461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36118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감광액 · 언더필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53812" y="2651760"/>
            <a:ext cx="1481328" cy="1783080"/>
          </a:xfrm>
          <a:prstGeom prst="roundRect">
            <a:avLst>
              <a:gd name="adj" fmla="val 370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53812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53812" y="32461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45252" y="36118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 · 본더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308092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네덜란드 · 독일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58584" y="2651760"/>
            <a:ext cx="1481328" cy="1783080"/>
          </a:xfrm>
          <a:prstGeom prst="roundRect">
            <a:avLst>
              <a:gd name="adj" fmla="val 370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58584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58584" y="32461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칩 제조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50024" y="36118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D램 · 로직다이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912864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· 대만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63356" y="2651760"/>
            <a:ext cx="1481328" cy="1783080"/>
          </a:xfrm>
          <a:prstGeom prst="roundRect">
            <a:avLst>
              <a:gd name="adj" fmla="val 3704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63356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563356" y="32461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패키징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654796" y="36118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적층 · CoWoS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517636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대만 · 일본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168128" y="2651760"/>
            <a:ext cx="1481328" cy="1783080"/>
          </a:xfrm>
          <a:prstGeom prst="roundRect">
            <a:avLst>
              <a:gd name="adj" fmla="val 3704"/>
            </a:avLst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168128" y="2852928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3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168128" y="3246120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259568" y="361188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E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· 데이터센터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10122408" y="455371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E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· 대만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5230368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중 한 단계라도 멈추면, 그 뒤는 전부 멈춥니다. 문제는 “어디가 가장 잘 멈추는가”입니다.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SUPPLY CHAIN MAP  ·  1/2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원재료 → ② 웨이퍼 → ③ 소재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56432" cy="3474720"/>
          </a:xfrm>
          <a:prstGeom prst="roundRect">
            <a:avLst>
              <a:gd name="adj" fmla="val 158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39572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048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원재료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077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 · 노르웨이 · 중국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31012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고순도 석영(HPQ)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56616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 스프루스 파인 · 세계 공급의 70~90%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0965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금속급 실리콘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35254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중국 · 노르웨이 · 브라질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488289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희귀가스 · 에폭시 수지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5138928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우크라이나 · 중국 · 일본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44568" y="2148840"/>
            <a:ext cx="3456432" cy="3474720"/>
          </a:xfrm>
          <a:prstGeom prst="roundRect">
            <a:avLst>
              <a:gd name="adj" fmla="val 158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39572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13248" y="24048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웨이퍼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9077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· 독일 · 한국 · 대만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31012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폴리실리콘 99.9999999%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6616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바커(독) · 헴록(미) · OCI(한)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0965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쿼츠 도가니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35254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· 잉곳 원가의 약 30%, 수명 400시간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88289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300mm 웨이퍼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5138928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신에츠 · SUMCO 등 상위 5사가 90%+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403336" y="2148840"/>
            <a:ext cx="3456432" cy="3474720"/>
          </a:xfrm>
          <a:prstGeom prst="roundRect">
            <a:avLst>
              <a:gd name="adj" fmla="val 158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0808" y="239572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5080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24048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소재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750808" y="29077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 (압도적)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750808" y="331012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 감광액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50808" y="3566160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· TOK · 신에츠 · 후지필름</a:t>
            </a:r>
            <a:endParaRPr lang="en-US" sz="1080" dirty="0"/>
          </a:p>
        </p:txBody>
      </p:sp>
      <p:sp>
        <p:nvSpPr>
          <p:cNvPr id="33" name="Text 31"/>
          <p:cNvSpPr txBox="1"/>
          <p:nvPr/>
        </p:nvSpPr>
        <p:spPr>
          <a:xfrm>
            <a:off x="8750808" y="4096512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MR-MUF 언더필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750808" y="4352544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나믹스 — SK하이닉스향 100%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8750808" y="488289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 절연필름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50808" y="5138928"/>
            <a:ext cx="2761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아지노모토 — 전 세계 100%</a:t>
            </a:r>
            <a:endParaRPr lang="en-US" sz="108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77900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눈여겨볼 점 — ③ 소재 단계는 사실상 일본 한 나라입니다.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SUPPLY CHAIN MAP  ·  2/2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장비 → ⑤ 칩 제조 → ⑥ 패키징 → ⑦ 시스템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3456432" cy="3291840"/>
          </a:xfrm>
          <a:prstGeom prst="roundRect">
            <a:avLst>
              <a:gd name="adj" fmla="val 166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3272" y="239572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4048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장비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33272" y="29077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네덜란드 · 독일 · 일본 · 한국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331012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 노광기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3566160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ASML(네덜란드) — 세계 유일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405993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 광학계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431596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 자이스(독일) — ASML에 독점 공급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033272" y="480974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 본더 / 그라인더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5065776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한미반도체 71% · 디스코 75%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544568" y="2148840"/>
            <a:ext cx="3456432" cy="3291840"/>
          </a:xfrm>
          <a:prstGeom prst="roundRect">
            <a:avLst>
              <a:gd name="adj" fmla="val 166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239572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13248" y="24048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칩 제조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9077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· 대만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31012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코어 다이 (D램)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66160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 이천·청주 / 삼성 평택</a:t>
            </a:r>
            <a:endParaRPr lang="en-US" sz="108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405993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베이스(로직) 다이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431596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SK는 TSMC 12nm 위탁 · 삼성은 자체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480974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원가의 20%대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5065776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회사가 파운드리의 고객이 됨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403336" y="2148840"/>
            <a:ext cx="3456432" cy="3291840"/>
          </a:xfrm>
          <a:prstGeom prst="roundRect">
            <a:avLst>
              <a:gd name="adj" fmla="val 1667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50808" y="2395728"/>
            <a:ext cx="402336" cy="402336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75080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24048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패키징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8750808" y="2907792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대만 · 일본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750808" y="331012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CoWoS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50808" y="3566160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말 월 11.5~14만 장 (2년새 4배)</a:t>
            </a:r>
            <a:endParaRPr lang="en-US" sz="1080" dirty="0"/>
          </a:p>
        </p:txBody>
      </p:sp>
      <p:sp>
        <p:nvSpPr>
          <p:cNvPr id="33" name="Text 31"/>
          <p:cNvSpPr txBox="1"/>
          <p:nvPr/>
        </p:nvSpPr>
        <p:spPr>
          <a:xfrm>
            <a:off x="8750808" y="405993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FC-BGA / ABF 기판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8750808" y="4315968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이비덴·신코(일본)가 사실상 양분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8750808" y="4809744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OSAT 외주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50808" y="5065776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앰코 · SPIL · ASE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685800" y="5577840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51560" y="5577840"/>
            <a:ext cx="10085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시스템 — 엔비디아 베라 루빈(설계 미국) → 폭스콘·퀀타 랙 조립(대만) → 전력·냉각 → 데이터센터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집중도 분석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60"/>
              </a:lnSpc>
              <a:buNone/>
            </a:pPr>
            <a:r>
              <a:rPr lang="en-US" sz="30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지도를 그리고 보니, 한 회사가</a:t>
            </a:r>
            <a:endParaRPr lang="en-US" sz="3000" dirty="0"/>
          </a:p>
          <a:p>
            <a:pPr indent="0" marL="0">
              <a:lnSpc>
                <a:spcPts val="3660"/>
              </a:lnSpc>
              <a:buNone/>
            </a:pPr>
            <a:r>
              <a:rPr lang="en-US" sz="30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 쥐고 있는 칸이 여덟 개였습니다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2651760"/>
          <a:ext cx="11000232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5870448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붉은 막대 = 대체 공급자가 사실상 존재하지 않는 노드   |   회색 막대 = 2순위 공급자가 존재하는 노드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하나만 사라진다면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먼저, 떠오르는 답 세 개를</a:t>
            </a:r>
            <a:endParaRPr lang="en-US" sz="3200" dirty="0"/>
          </a:p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지우고 시작하겠습니다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3272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C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288950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엔비디아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3456432"/>
            <a:ext cx="27614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회사입니다. 공장이 없어 사라져도 AMD·구글 TPU·브로드컴 ASIC이 자리를 메웁니다. 실제로 빅테크는 이미 자체 칩으로 이동 중입니다.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544568" y="265176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C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413248" y="288950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TSMC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456432"/>
            <a:ext cx="27614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아프지만 회복합니다. TSMC 스스로 2026년 CoWoS 물량 중 24~27만 장을 앰코·SPIL에 넘기고 있습니다. 대체 경로가 이미 가동 중입니다.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403336" y="2651760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5080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3C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272016" y="2889504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ASML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750808" y="3456432"/>
            <a:ext cx="276148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여기서 대부분 멈춥니다. 하지만 ASML이 사라져도 전 세계 팹에 이미 설치된 EUV 장비는 계속 돕니다. 신규 증설만 멈춥니다.</a:t>
            </a:r>
            <a:endParaRPr lang="en-US" sz="123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486400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셋 다 “치명적”이지만, 셋 다 “회복 가능”합니다. 그래서 우리는 치명적이라는 말부터 다시 정의했습니다.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측정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“고치는 데 걸리는 시간” 빼기</a:t>
            </a:r>
            <a:endParaRPr lang="en-US" sz="3200" dirty="0"/>
          </a:p>
          <a:p>
            <a:pPr indent="0" marL="0">
              <a:lnSpc>
                <a:spcPts val="3904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“버틸 수 있는 시간”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880360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고치는 시간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794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회사가 사라진 뒤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공급이 자리 잡기까지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2880360"/>
            <a:ext cx="2743200" cy="1783080"/>
          </a:xfrm>
          <a:prstGeom prst="roundRect">
            <a:avLst>
              <a:gd name="adj" fmla="val 307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6908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336499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버티는 시간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3794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재고와 우회 경로만으로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라인을 돌릴 수 있는 기간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65576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766560" y="2880360"/>
            <a:ext cx="4754880" cy="1783080"/>
          </a:xfrm>
          <a:prstGeom prst="roundRect">
            <a:avLst>
              <a:gd name="adj" fmla="val 3077"/>
            </a:avLst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2880360"/>
            <a:ext cx="4206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치명적이다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(고치는 시간 − 버티는 시간)</a:t>
            </a:r>
            <a:endParaRPr lang="en-US" sz="1600" dirty="0"/>
          </a:p>
          <a:p>
            <a:pPr algn="ctr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그 칩 세대의 수명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02920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가속기는 12~18개월마다 세대가 바뀝니다. 복구에 3년이 걸린다면, 그 회사는 “대체 가능”하지만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그동안 두 세대가 통째로 사라집니다. 미뤄지는 게 아니라, 그 시장이 없어지는 겁니다.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스코어보드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기준으로 다시 채점했습니다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762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 노드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429000" y="21762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17627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점유율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21762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복구 시간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7627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경로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241280" y="2176272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587752"/>
            <a:ext cx="10817352" cy="12802"/>
          </a:xfrm>
          <a:prstGeom prst="rect">
            <a:avLst/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70048"/>
            <a:ext cx="10817352" cy="47091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" y="2688336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 자이스 SMT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688336"/>
            <a:ext cx="914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독일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688336"/>
            <a:ext cx="960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688336"/>
            <a:ext cx="1234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10년 +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88336"/>
            <a:ext cx="3703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시도 자체가 없음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497312" y="2766060"/>
            <a:ext cx="749808" cy="283464"/>
          </a:xfrm>
          <a:prstGeom prst="roundRect">
            <a:avLst>
              <a:gd name="adj" fmla="val 16129"/>
            </a:avLst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497312" y="2766060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치명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" y="3186684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아지노모토 ABF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429000" y="3186684"/>
            <a:ext cx="914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186684"/>
            <a:ext cx="960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186684"/>
            <a:ext cx="1234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3~5년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186684"/>
            <a:ext cx="3703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유리기판 — 개발 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97312" y="3264408"/>
            <a:ext cx="749808" cy="283464"/>
          </a:xfrm>
          <a:prstGeom prst="roundRect">
            <a:avLst>
              <a:gd name="adj" fmla="val 16129"/>
            </a:avLst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497312" y="3264408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3666744"/>
            <a:ext cx="10817352" cy="47091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" y="3685032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나믹스 언더필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685032"/>
            <a:ext cx="914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일본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3685032"/>
            <a:ext cx="960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303520" y="3685032"/>
            <a:ext cx="1234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2~3년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37960" y="3685032"/>
            <a:ext cx="3703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소재사와 개발 착수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0497312" y="3762756"/>
            <a:ext cx="749808" cy="283464"/>
          </a:xfrm>
          <a:prstGeom prst="roundRect">
            <a:avLst>
              <a:gd name="adj" fmla="val 16129"/>
            </a:avLst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97312" y="3762756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심각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0664" y="4183380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CoWoS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429000" y="4183380"/>
            <a:ext cx="914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대만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4183380"/>
            <a:ext cx="960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303520" y="4183380"/>
            <a:ext cx="1234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2~3년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37960" y="4183380"/>
            <a:ext cx="3703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앰코·SPIL 외주 진행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497312" y="4261104"/>
            <a:ext cx="749808" cy="283464"/>
          </a:xfrm>
          <a:prstGeom prst="roundRect">
            <a:avLst>
              <a:gd name="adj" fmla="val 16129"/>
            </a:avLst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497312" y="4261104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" y="4663440"/>
            <a:ext cx="10817352" cy="470916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0664" y="4681728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스프루스파인 석영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3429000" y="4681728"/>
            <a:ext cx="914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미국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343400" y="4681728"/>
            <a:ext cx="960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303520" y="4681728"/>
            <a:ext cx="1234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1~2년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37960" y="4681728"/>
            <a:ext cx="3703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 쿼츠 — 5~10배 비쌈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0497312" y="4759452"/>
            <a:ext cx="749808" cy="283464"/>
          </a:xfrm>
          <a:prstGeom prst="roundRect">
            <a:avLst>
              <a:gd name="adj" fmla="val 16129"/>
            </a:avLst>
          </a:prstGeom>
          <a:solidFill>
            <a:srgbClr val="B9C4D2"/>
          </a:solidFill>
          <a:ln w="12700">
            <a:solidFill>
              <a:srgbClr val="B9C4D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497312" y="4759452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40664" y="5180076"/>
            <a:ext cx="27432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한미반도체 TC본더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3429000" y="5180076"/>
            <a:ext cx="91440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4343400" y="5180076"/>
            <a:ext cx="9601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303520" y="5180076"/>
            <a:ext cx="123444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6~12개월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537960" y="5180076"/>
            <a:ext cx="37033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ASMPT · 한화세미텍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497312" y="5257800"/>
            <a:ext cx="749808" cy="283464"/>
          </a:xfrm>
          <a:prstGeom prst="roundRect">
            <a:avLst>
              <a:gd name="adj" fmla="val 16129"/>
            </a:avLst>
          </a:prstGeom>
          <a:solidFill>
            <a:srgbClr val="B9C4D2"/>
          </a:solidFill>
          <a:ln w="12700">
            <a:solidFill>
              <a:srgbClr val="B9C4D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10497312" y="5257800"/>
            <a:ext cx="749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낮음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685800" y="5815584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가장 위와 가장 아래의 차이는 점유율이 아니라 “대체를 이미 시작했는가”였습니다.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우리의 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칼 자이스 SMT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독일 오버코헨 · 직원 대부분이 렌즈를 깎는 회사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429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i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“세계 유일의 독점기업 ASML조차,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i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자기 위에 또 하나의 독점기업을 두고 있습니다.”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526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30,000개+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4572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EUV 장비 1대에 들어가는 자이스 부품 수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74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2,000건+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5120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자이스가 보유한 EUV 핵심 특허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5623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80%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5669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자이스 부품이 관여하는 전 세계 반도체 생산 비중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26680" y="1783080"/>
            <a:ext cx="3794760" cy="3977640"/>
          </a:xfrm>
          <a:prstGeom prst="roundRect">
            <a:avLst>
              <a:gd name="adj" fmla="val 1687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20848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여기가 답인가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6517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ASML이 사라져도 설치된 장비는 돕니다.
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자이스가 사라지면 신규 장비가 영원히 안 나오고,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장비의 거울 유지보수까지 불가능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해집니다.
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2026년 ASML의 병목은 주문이 아니라 자이스 거울과 트룸프 레이저 공급으로 옮겨갔습니다.
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그리고 결정적으로 — 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아무도 대체를 시작하지 않았습니다.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한 가지 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782"/>
              </a:lnSpc>
              <a:buNone/>
            </a:pPr>
            <a:r>
              <a:rPr lang="en-US" sz="31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그런데 지도의 끝을 계속 파고들면</a:t>
            </a:r>
            <a:endParaRPr lang="en-US" sz="3100" dirty="0"/>
          </a:p>
          <a:p>
            <a:pPr indent="0" marL="0">
              <a:lnSpc>
                <a:spcPts val="3782"/>
              </a:lnSpc>
              <a:buNone/>
            </a:pPr>
            <a:r>
              <a:rPr lang="en-US" sz="31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이상한 회사가 나옵니다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697480"/>
            <a:ext cx="5394960" cy="2971800"/>
          </a:xfrm>
          <a:prstGeom prst="roundRect">
            <a:avLst>
              <a:gd name="adj" fmla="val 1846"/>
            </a:avLst>
          </a:prstGeom>
          <a:solidFill>
            <a:srgbClr val="EDF0F4"/>
          </a:solidFill>
          <a:ln w="12700">
            <a:solidFill>
              <a:srgbClr val="EDF0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971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아지노모토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520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味の素 — 조미료(MSG)를 만들던 일본 식품회사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9319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가속기 칩을 기판에 붙일 때 쓰는 절연필름 'ABF'를 전 세계에서 이 회사 혼자 만듭니다. 아미노산 연구에서 파생된 소재입니다.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엔비디아의 최신 가속기는 이 필름을 8~16층 쌓아 씁니다. 일반 PC 기판의 15~18배입니다.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743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 기판 공급 부족률 전망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2461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0" y="3282696"/>
            <a:ext cx="182880" cy="237744"/>
          </a:xfrm>
          <a:prstGeom prst="roundRect">
            <a:avLst>
              <a:gd name="adj" fmla="val 15000"/>
            </a:avLst>
          </a:prstGeom>
          <a:solidFill>
            <a:srgbClr val="C3CC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08976" y="322783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9593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3995928"/>
            <a:ext cx="2011680" cy="237744"/>
          </a:xfrm>
          <a:prstGeom prst="roundRect">
            <a:avLst>
              <a:gd name="adj" fmla="val 11538"/>
            </a:avLst>
          </a:prstGeom>
          <a:solidFill>
            <a:srgbClr val="C46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37776" y="39410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67258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0" y="4709160"/>
            <a:ext cx="3200400" cy="237744"/>
          </a:xfrm>
          <a:prstGeom prst="roundRect">
            <a:avLst>
              <a:gd name="adj" fmla="val 11538"/>
            </a:avLst>
          </a:prstGeom>
          <a:solidFill>
            <a:srgbClr val="C46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826496" y="465429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53218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칩 하나당 기판 면적과 층수가 함께 늘어나는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부족이라, 증설로 따라잡기 어렵습니다.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897880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데이터센터의 뿌리를 끝까지 캐면, 렌즈 회사와 조미료 회사가 나옵니다.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예상 반론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0E1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“그래도 대체 불가능한 건 아니지 않나요?”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830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맞습니다. 그리고 그게 이 분석의 출발점이었습니다.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323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대상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4323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 경로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432304"/>
            <a:ext cx="5330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진행 상황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798064"/>
            <a:ext cx="10817352" cy="12802"/>
          </a:xfrm>
          <a:prstGeom prst="rect">
            <a:avLst/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880360"/>
            <a:ext cx="10817352" cy="51206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0664" y="29077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아지노모토 ABF</a:t>
            </a:r>
            <a:endParaRPr lang="en-US" sz="123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90779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유리기판으로 대체</a:t>
            </a:r>
            <a:endParaRPr lang="en-US" sz="123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907792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앱솔릭스·삼성전기 시제품 단계 · 본격 양산은 2028년 이후</a:t>
            </a:r>
            <a:endParaRPr lang="en-US" sz="1230" dirty="0"/>
          </a:p>
        </p:txBody>
      </p:sp>
      <p:sp>
        <p:nvSpPr>
          <p:cNvPr id="13" name="Text 11"/>
          <p:cNvSpPr txBox="1"/>
          <p:nvPr/>
        </p:nvSpPr>
        <p:spPr>
          <a:xfrm>
            <a:off x="740664" y="34564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나믹스 언더필</a:t>
            </a:r>
            <a:endParaRPr lang="en-US" sz="123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34564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소재사 공동개발</a:t>
            </a:r>
            <a:endParaRPr lang="en-US" sz="123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3456432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SK하이닉스가 독점계약 만료에 맞춰 개발 진행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817352" cy="512064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0664" y="40050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TSMC 베이스 다이</a:t>
            </a:r>
            <a:endParaRPr lang="en-US" sz="123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400507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파운드리 이원화</a:t>
            </a:r>
            <a:endParaRPr lang="en-US" sz="123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4005072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SK하이닉스, HBM4E부터 인텔 병행 검토 (2026년 8월 보도)</a:t>
            </a:r>
            <a:endParaRPr lang="en-US" sz="1230" dirty="0"/>
          </a:p>
        </p:txBody>
      </p:sp>
      <p:sp>
        <p:nvSpPr>
          <p:cNvPr id="20" name="Text 18"/>
          <p:cNvSpPr txBox="1"/>
          <p:nvPr/>
        </p:nvSpPr>
        <p:spPr>
          <a:xfrm>
            <a:off x="740664" y="45537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E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스프루스파인 석영</a:t>
            </a:r>
            <a:endParaRPr lang="en-US" sz="123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45537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 쿼츠</a:t>
            </a:r>
            <a:endParaRPr lang="en-US" sz="123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4553712"/>
            <a:ext cx="5193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dirty="0">
                <a:solidFill>
                  <a:srgbClr val="2B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일부 사용 중 · 가격이 5~10배 비쌀 뿐</a:t>
            </a:r>
            <a:endParaRPr lang="en-US" sz="1230" dirty="0"/>
          </a:p>
        </p:txBody>
      </p:sp>
      <p:sp>
        <p:nvSpPr>
          <p:cNvPr id="23" name="Shape 21"/>
          <p:cNvSpPr/>
          <p:nvPr/>
        </p:nvSpPr>
        <p:spPr>
          <a:xfrm>
            <a:off x="685800" y="5285232"/>
            <a:ext cx="10817352" cy="868680"/>
          </a:xfrm>
          <a:prstGeom prst="roundRect">
            <a:avLst>
              <a:gd name="adj" fmla="val 6316"/>
            </a:avLst>
          </a:prstGeom>
          <a:solidFill>
            <a:srgbClr val="0E1420"/>
          </a:solidFill>
          <a:ln w="12700">
            <a:solidFill>
              <a:srgbClr val="0E14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5285232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대체 가능합니다. 다만 대체가 끝날 때쯤이면 GPU는 두 세대가 지나가 있습니다.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측정한 것은 “대체 가능성”이 아니라 “대체 지연으로 잃는 세대 수”입니다.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3A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결론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108173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대체 불가능한 것은</a:t>
            </a:r>
            <a:endParaRPr lang="en-US" sz="3400" dirty="0"/>
          </a:p>
          <a:p>
            <a:pPr indent="0" marL="0">
              <a:lnSpc>
                <a:spcPts val="4148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회사가 아니라 시간이었습니다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8892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자이스가 사라져도 도면과 특허는 남습니다. 하지만 EUV 거울을 원자 수준으로 깎아내는 숙련공의 손과,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30년치 실패 기록은 복원되지 않습니다. 공장은 3년이면 짓지만, 클러스터는 30년이 걸립니다.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3794760"/>
            <a:ext cx="3456432" cy="1600200"/>
          </a:xfrm>
          <a:prstGeom prst="roundRect">
            <a:avLst>
              <a:gd name="adj" fmla="val 342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4041648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3327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527048" y="405993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지도의 진짜 급소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4553712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회사가 아니라 두 개의 지리 —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네덜란드·독일 축, 그리고 대만·한국 축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44568" y="3794760"/>
            <a:ext cx="3456432" cy="1600200"/>
          </a:xfrm>
          <a:prstGeom prst="roundRect">
            <a:avLst>
              <a:gd name="adj" fmla="val 342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4041648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385816" y="405993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한국이 쥔 카드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4553712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적층 기술과 TC 본더.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소재는 여전히 일본에 의존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794760"/>
            <a:ext cx="3456432" cy="1600200"/>
          </a:xfrm>
          <a:prstGeom prst="roundRect">
            <a:avLst>
              <a:gd name="adj" fmla="val 3429"/>
            </a:avLst>
          </a:prstGeom>
          <a:solidFill>
            <a:srgbClr val="1B2333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50808" y="4041648"/>
            <a:ext cx="365760" cy="365760"/>
          </a:xfrm>
          <a:prstGeom prst="ellipse">
            <a:avLst/>
          </a:prstGeom>
          <a:solidFill>
            <a:srgbClr val="C462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5080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244584" y="405993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벌어지는 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750808" y="4553712"/>
            <a:ext cx="2761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SK하이닉스의 파운드리 이원화처럼,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업계는 지금 이 순간 급소를 지우는 중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669280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46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 프로젝트의 결론은 리포트가 아니라, 지금도 갱신되고 있는 현실입니다.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데이터센터 설립 프로젝트 · HBM4 Supply Chain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0863072" y="63825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AI를 멈추는 가장 쉬운 방법</dc:title>
  <dc:subject>PptxGenJS Presentation</dc:subject>
  <dc:creator>AI Datacenter Project Team</dc:creator>
  <cp:lastModifiedBy>AI Datacenter Project Team</cp:lastModifiedBy>
  <cp:revision>1</cp:revision>
  <dcterms:created xsi:type="dcterms:W3CDTF">2026-09-04T02:28:31Z</dcterms:created>
  <dcterms:modified xsi:type="dcterms:W3CDTF">2026-09-04T02:28:31Z</dcterms:modified>
</cp:coreProperties>
</file>